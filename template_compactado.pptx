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6"/>
  </p:notesMasterIdLst>
  <p:sldIdLst>
    <p:sldId id="365" r:id="rId5"/>
    <p:sldId id="487" r:id="rId6"/>
    <p:sldId id="488" r:id="rId7"/>
    <p:sldId id="489" r:id="rId8"/>
    <p:sldId id="391" r:id="rId9"/>
    <p:sldId id="492" r:id="rId10"/>
    <p:sldId id="460" r:id="rId11"/>
    <p:sldId id="483" r:id="rId12"/>
    <p:sldId id="491" r:id="rId13"/>
    <p:sldId id="485" r:id="rId14"/>
    <p:sldId id="347" r:id="rId15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00D008-1882-B778-5948-7737BFFB4EFD}" name="David Albino - Approach" initials="" userId="S::david.albino@approach.com.br::25e8c45d-0d5d-4c54-8c05-d95d9a679ea8" providerId="AD"/>
  <p188:author id="{0794179C-5279-62FB-B98A-682A2CFAB3D8}" name="Thamyris Barbosa - Approach" initials="TA" userId="S::thamyris.barbosa@approach.com.br::c3a66eee-175a-4fd5-8136-1f41b3cc680a" providerId="AD"/>
  <p188:author id="{2FB9F5F8-1573-3985-E1C6-E138080FFFA5}" name="Renata Putinatti - Approach" initials="RA" userId="S::renata.putinatti@approach.com.br::4c1692d4-42b5-4395-8ab2-d7970fdd2c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42F"/>
    <a:srgbClr val="451211"/>
    <a:srgbClr val="1290B1"/>
    <a:srgbClr val="75A641"/>
    <a:srgbClr val="FF6934"/>
    <a:srgbClr val="F89823"/>
    <a:srgbClr val="F2632F"/>
    <a:srgbClr val="8D4F70"/>
    <a:srgbClr val="FCA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AC2F2-382E-5C52-DD52-014AD7F9459E}" v="172" dt="2025-09-02T15:49:10.504"/>
    <p1510:client id="{D953EE38-0CD2-B3BB-605D-EAF06938E4E5}" v="2" dt="2025-09-02T16:59:58.759"/>
    <p1510:client id="{E8EFDABF-0D95-154B-AB85-EF7C3B7B5D7A}" v="1" dt="2025-09-02T13:30:53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2"/>
    <p:restoredTop sz="94589"/>
  </p:normalViewPr>
  <p:slideViewPr>
    <p:cSldViewPr snapToGrid="0">
      <p:cViewPr varScale="1">
        <p:scale>
          <a:sx n="77" d="100"/>
          <a:sy n="77" d="100"/>
        </p:scale>
        <p:origin x="3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yris Barbosa - Approach" userId="S::thamyris.barbosa@approach.com.br::c3a66eee-175a-4fd5-8136-1f41b3cc680a" providerId="AD" clId="Web-{9D9AC2F2-382E-5C52-DD52-014AD7F9459E}"/>
    <pc:docChg chg="mod addSld modSld">
      <pc:chgData name="Thamyris Barbosa - Approach" userId="S::thamyris.barbosa@approach.com.br::c3a66eee-175a-4fd5-8136-1f41b3cc680a" providerId="AD" clId="Web-{9D9AC2F2-382E-5C52-DD52-014AD7F9459E}" dt="2025-09-02T15:48:09.267" v="84" actId="20577"/>
      <pc:docMkLst>
        <pc:docMk/>
      </pc:docMkLst>
      <pc:sldChg chg="addSp delSp modSp">
        <pc:chgData name="Thamyris Barbosa - Approach" userId="S::thamyris.barbosa@approach.com.br::c3a66eee-175a-4fd5-8136-1f41b3cc680a" providerId="AD" clId="Web-{9D9AC2F2-382E-5C52-DD52-014AD7F9459E}" dt="2025-09-02T15:35:53.235" v="75"/>
        <pc:sldMkLst>
          <pc:docMk/>
          <pc:sldMk cId="2670555313" sldId="333"/>
        </pc:sldMkLst>
        <pc:spChg chg="add del mod">
          <ac:chgData name="Thamyris Barbosa - Approach" userId="S::thamyris.barbosa@approach.com.br::c3a66eee-175a-4fd5-8136-1f41b3cc680a" providerId="AD" clId="Web-{9D9AC2F2-382E-5C52-DD52-014AD7F9459E}" dt="2025-09-02T15:35:53.235" v="75"/>
          <ac:spMkLst>
            <pc:docMk/>
            <pc:sldMk cId="2670555313" sldId="333"/>
            <ac:spMk id="2" creationId="{8174E4E7-1DE1-2072-F919-DA9312DABD00}"/>
          </ac:spMkLst>
        </pc:spChg>
      </pc:sldChg>
      <pc:sldChg chg="addSp modSp">
        <pc:chgData name="Thamyris Barbosa - Approach" userId="S::thamyris.barbosa@approach.com.br::c3a66eee-175a-4fd5-8136-1f41b3cc680a" providerId="AD" clId="Web-{9D9AC2F2-382E-5C52-DD52-014AD7F9459E}" dt="2025-09-02T15:29:22.093" v="36" actId="14100"/>
        <pc:sldMkLst>
          <pc:docMk/>
          <pc:sldMk cId="508065222" sldId="352"/>
        </pc:sldMkLst>
        <pc:spChg chg="add mod">
          <ac:chgData name="Thamyris Barbosa - Approach" userId="S::thamyris.barbosa@approach.com.br::c3a66eee-175a-4fd5-8136-1f41b3cc680a" providerId="AD" clId="Web-{9D9AC2F2-382E-5C52-DD52-014AD7F9459E}" dt="2025-09-02T15:29:22.093" v="36" actId="14100"/>
          <ac:spMkLst>
            <pc:docMk/>
            <pc:sldMk cId="508065222" sldId="352"/>
            <ac:spMk id="2" creationId="{B973BAEA-7D94-56DB-77F8-024CBAECFE2B}"/>
          </ac:spMkLst>
        </pc:spChg>
      </pc:sldChg>
      <pc:sldChg chg="modSp">
        <pc:chgData name="Thamyris Barbosa - Approach" userId="S::thamyris.barbosa@approach.com.br::c3a66eee-175a-4fd5-8136-1f41b3cc680a" providerId="AD" clId="Web-{9D9AC2F2-382E-5C52-DD52-014AD7F9459E}" dt="2025-09-02T15:32:52.617" v="70" actId="20577"/>
        <pc:sldMkLst>
          <pc:docMk/>
          <pc:sldMk cId="590030776" sldId="356"/>
        </pc:sldMkLst>
        <pc:spChg chg="mod">
          <ac:chgData name="Thamyris Barbosa - Approach" userId="S::thamyris.barbosa@approach.com.br::c3a66eee-175a-4fd5-8136-1f41b3cc680a" providerId="AD" clId="Web-{9D9AC2F2-382E-5C52-DD52-014AD7F9459E}" dt="2025-09-02T15:32:52.617" v="70" actId="20577"/>
          <ac:spMkLst>
            <pc:docMk/>
            <pc:sldMk cId="590030776" sldId="356"/>
            <ac:spMk id="8" creationId="{CD355932-63A0-31A4-358D-DC3EE007FE86}"/>
          </ac:spMkLst>
        </pc:spChg>
      </pc:sldChg>
      <pc:sldChg chg="modSp">
        <pc:chgData name="Thamyris Barbosa - Approach" userId="S::thamyris.barbosa@approach.com.br::c3a66eee-175a-4fd5-8136-1f41b3cc680a" providerId="AD" clId="Web-{9D9AC2F2-382E-5C52-DD52-014AD7F9459E}" dt="2025-09-02T15:32:35.461" v="68" actId="1076"/>
        <pc:sldMkLst>
          <pc:docMk/>
          <pc:sldMk cId="3373409884" sldId="357"/>
        </pc:sldMkLst>
        <pc:spChg chg="mod">
          <ac:chgData name="Thamyris Barbosa - Approach" userId="S::thamyris.barbosa@approach.com.br::c3a66eee-175a-4fd5-8136-1f41b3cc680a" providerId="AD" clId="Web-{9D9AC2F2-382E-5C52-DD52-014AD7F9459E}" dt="2025-09-02T15:32:35.461" v="68" actId="1076"/>
          <ac:spMkLst>
            <pc:docMk/>
            <pc:sldMk cId="3373409884" sldId="357"/>
            <ac:spMk id="8" creationId="{571AD93A-3861-62B0-886B-11BD180C978F}"/>
          </ac:spMkLst>
        </pc:spChg>
      </pc:sldChg>
      <pc:sldChg chg="addSp modSp">
        <pc:chgData name="Thamyris Barbosa - Approach" userId="S::thamyris.barbosa@approach.com.br::c3a66eee-175a-4fd5-8136-1f41b3cc680a" providerId="AD" clId="Web-{9D9AC2F2-382E-5C52-DD52-014AD7F9459E}" dt="2025-09-02T15:30:17.720" v="64" actId="20577"/>
        <pc:sldMkLst>
          <pc:docMk/>
          <pc:sldMk cId="687726769" sldId="366"/>
        </pc:sldMkLst>
        <pc:spChg chg="add mod">
          <ac:chgData name="Thamyris Barbosa - Approach" userId="S::thamyris.barbosa@approach.com.br::c3a66eee-175a-4fd5-8136-1f41b3cc680a" providerId="AD" clId="Web-{9D9AC2F2-382E-5C52-DD52-014AD7F9459E}" dt="2025-09-02T15:30:17.720" v="64" actId="20577"/>
          <ac:spMkLst>
            <pc:docMk/>
            <pc:sldMk cId="687726769" sldId="366"/>
            <ac:spMk id="6" creationId="{74E85647-1D26-A72E-20D9-E6B9C462946D}"/>
          </ac:spMkLst>
        </pc:spChg>
      </pc:sldChg>
      <pc:sldChg chg="addSp modSp">
        <pc:chgData name="Thamyris Barbosa - Approach" userId="S::thamyris.barbosa@approach.com.br::c3a66eee-175a-4fd5-8136-1f41b3cc680a" providerId="AD" clId="Web-{9D9AC2F2-382E-5C52-DD52-014AD7F9459E}" dt="2025-09-02T15:30:08.157" v="61" actId="20577"/>
        <pc:sldMkLst>
          <pc:docMk/>
          <pc:sldMk cId="3252513893" sldId="367"/>
        </pc:sldMkLst>
        <pc:spChg chg="add mod">
          <ac:chgData name="Thamyris Barbosa - Approach" userId="S::thamyris.barbosa@approach.com.br::c3a66eee-175a-4fd5-8136-1f41b3cc680a" providerId="AD" clId="Web-{9D9AC2F2-382E-5C52-DD52-014AD7F9459E}" dt="2025-09-02T15:30:08.157" v="61" actId="20577"/>
          <ac:spMkLst>
            <pc:docMk/>
            <pc:sldMk cId="3252513893" sldId="367"/>
            <ac:spMk id="3" creationId="{E2BC17D5-45CC-473E-FA9D-C4EE419BE1DF}"/>
          </ac:spMkLst>
        </pc:spChg>
      </pc:sldChg>
      <pc:sldChg chg="modSp add replId">
        <pc:chgData name="Thamyris Barbosa - Approach" userId="S::thamyris.barbosa@approach.com.br::c3a66eee-175a-4fd5-8136-1f41b3cc680a" providerId="AD" clId="Web-{9D9AC2F2-382E-5C52-DD52-014AD7F9459E}" dt="2025-09-02T15:48:09.267" v="84" actId="20577"/>
        <pc:sldMkLst>
          <pc:docMk/>
          <pc:sldMk cId="3459198356" sldId="368"/>
        </pc:sldMkLst>
        <pc:spChg chg="mod">
          <ac:chgData name="Thamyris Barbosa - Approach" userId="S::thamyris.barbosa@approach.com.br::c3a66eee-175a-4fd5-8136-1f41b3cc680a" providerId="AD" clId="Web-{9D9AC2F2-382E-5C52-DD52-014AD7F9459E}" dt="2025-09-02T15:48:09.267" v="84" actId="20577"/>
          <ac:spMkLst>
            <pc:docMk/>
            <pc:sldMk cId="3459198356" sldId="368"/>
            <ac:spMk id="4" creationId="{E3708F72-CF2D-1602-3AB7-CB23B47B23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5EE39-C7AD-42F4-8209-35BF9CA39C32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B770A-9821-40A1-BD83-07B8624A2F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99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1pPr>
    <a:lvl2pPr marL="703687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2pPr>
    <a:lvl3pPr marL="1407375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3pPr>
    <a:lvl4pPr marL="2111063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4pPr>
    <a:lvl5pPr marL="2814750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5pPr>
    <a:lvl6pPr marL="3518437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6pPr>
    <a:lvl7pPr marL="4222126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7pPr>
    <a:lvl8pPr marL="4925815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8pPr>
    <a:lvl9pPr marL="5629502" algn="l" defTabSz="1407375" rtl="0" eaLnBrk="1" latinLnBrk="0" hangingPunct="1">
      <a:defRPr sz="1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EC32-38EC-CC51-3F03-CB1F213A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FCE801-747E-8BCA-D5CF-58F287167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3ABC1C-8861-B3FD-AC30-D2BE6852E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B39C9B-45E4-D1F8-2737-199C75467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213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F7B32-25E4-B2B8-E8DD-FAB707F9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F4CAC9-D1D3-63A6-0000-0BCD61164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5B7F3F-4B04-F08A-D978-6FA146B37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127EE5-B2FB-E118-9ECA-FC28CCF9B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55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0C8-F3F7-8D92-D191-9E92B984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E6F3895-D768-150E-FBF0-ACC439833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0499BB-E118-5A04-111E-397D5BEC9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12D197-09F1-4923-A1C2-874D03269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867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3C14-CDF2-06D1-E12A-0A252A7B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9BC4AF-EC96-2D92-D605-C52FF69B7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2F2E24-B20C-1C1F-12AE-186D31228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59D4A3-A14B-9774-FCEF-699652B1A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350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9AAA-71C6-5491-5451-979ACBAF7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7D41A4-AD5D-FFCB-3426-D4BB9CD86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C25603-86D1-9D64-6342-0B34F522E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7E281D-8EA1-43DC-992C-532E334C1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840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0A1D-889F-3BA1-5322-E6FB6949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C82337-ADFA-560C-2AAD-375CB3BC3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A49952-DC14-4E68-16BA-B119FF35B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6114CC-24B4-0178-D90F-63E8D6F2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193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3E11-3C39-ABC4-E82F-DFF3A3C6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F3BE0B-BB87-B1FE-C840-3F67D42C2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78EE07-9F99-19C1-B817-26CFAE27F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06BDD9-73F8-74FA-028D-223B6F5B0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02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E39D-D815-55E5-9611-079CB319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D7945D4-27CC-C2D8-EBC1-CE25FC03F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36A7B9-4199-6FDA-03D3-FA244C234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D4A299-38AB-E2B7-2686-636D0139F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361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62FBE-0E05-71FD-6D8B-DE024E8E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CC6B91-97A5-CB36-D155-350C0BECD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BB2E6A-E76A-2DBE-0CC4-6163F3FB6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2C8937-6254-5002-ECBF-1F11CABA9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612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547AB-144B-6506-3B5E-343777B3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7ADD3-9094-7E73-434D-62C2E4B27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F0B8F61-FAE9-BCA6-7646-1EAD9B724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45BA6D-9052-2D3F-DEDE-9DE0F4B8C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379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B770A-9821-40A1-BD83-07B8624A2F0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82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9183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5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60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43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68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97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05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61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5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68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86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65D40-D209-44C4-B8BF-53A390FC878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586DF-8EB8-4FF5-A7CE-ED96DD139D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85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1.jpeg"/><Relationship Id="rId5" Type="http://schemas.openxmlformats.org/officeDocument/2006/relationships/image" Target="../media/image34.png"/><Relationship Id="rId10" Type="http://schemas.openxmlformats.org/officeDocument/2006/relationships/image" Target="../media/image30.jpeg"/><Relationship Id="rId4" Type="http://schemas.openxmlformats.org/officeDocument/2006/relationships/image" Target="../media/image33.png"/><Relationship Id="rId9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1AB32-5D70-7ED1-85AD-90FF5C65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6FE4E463-8D9A-CDF6-5FBF-07D4EF3BF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069" y="518891"/>
            <a:ext cx="9291841" cy="9828783"/>
          </a:xfrm>
          <a:prstGeom prst="rect">
            <a:avLst/>
          </a:prstGeom>
        </p:spPr>
      </p:pic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7D081F71-7056-D682-6477-C7076641C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06820" y="710575"/>
            <a:ext cx="4019306" cy="663381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7163DBDB-D4AF-49BC-3347-2440162327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173" y="718589"/>
            <a:ext cx="2158002" cy="1151394"/>
          </a:xfrm>
          <a:prstGeom prst="rect">
            <a:avLst/>
          </a:prstGeom>
        </p:spPr>
      </p:pic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1816D0DF-737B-B622-3185-F44E251BA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338" y="344139"/>
            <a:ext cx="8988587" cy="9559292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808A418-4998-208D-B8DF-12FE92CBDA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32202" y="9170282"/>
            <a:ext cx="872086" cy="1199694"/>
          </a:xfrm>
          <a:prstGeom prst="rect">
            <a:avLst/>
          </a:prstGeom>
        </p:spPr>
      </p:pic>
      <p:pic>
        <p:nvPicPr>
          <p:cNvPr id="14" name="Imagem 1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C81FF447-FB7B-D9D9-4437-ABFA06087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318853" y="2445579"/>
            <a:ext cx="3585724" cy="663381"/>
          </a:xfrm>
          <a:prstGeom prst="rect">
            <a:avLst/>
          </a:prstGeom>
        </p:spPr>
      </p:pic>
      <p:pic>
        <p:nvPicPr>
          <p:cNvPr id="16" name="Imagem 15" descr="Desenho com traços pretos em fundo branco e letras pretas em fundo branco&#10;&#10;O conteúdo gerado por IA pode estar incorreto.">
            <a:extLst>
              <a:ext uri="{FF2B5EF4-FFF2-40B4-BE49-F238E27FC236}">
                <a16:creationId xmlns:a16="http://schemas.microsoft.com/office/drawing/2014/main" id="{66C870CC-1A04-138E-453C-E2D286CCF5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145552" y="4511898"/>
            <a:ext cx="3845874" cy="663381"/>
          </a:xfrm>
          <a:prstGeom prst="rect">
            <a:avLst/>
          </a:prstGeom>
        </p:spPr>
      </p:pic>
      <p:pic>
        <p:nvPicPr>
          <p:cNvPr id="18" name="Imagem 17" descr="Logotipo&#10;&#10;O conteúdo gerado por IA pode estar incorreto.">
            <a:extLst>
              <a:ext uri="{FF2B5EF4-FFF2-40B4-BE49-F238E27FC236}">
                <a16:creationId xmlns:a16="http://schemas.microsoft.com/office/drawing/2014/main" id="{B39E77E4-5458-F260-432A-CC8B86D1A9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190371" y="3288117"/>
            <a:ext cx="2744574" cy="66338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1243494-B1E1-9314-DED2-607670517F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318853" y="6080868"/>
            <a:ext cx="5827348" cy="657026"/>
          </a:xfrm>
          <a:prstGeom prst="rect">
            <a:avLst/>
          </a:prstGeom>
        </p:spPr>
      </p:pic>
      <p:pic>
        <p:nvPicPr>
          <p:cNvPr id="30" name="Imagem 29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A4AFF663-DBBE-2DD3-D59F-4C942CAF05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18853" y="7914543"/>
            <a:ext cx="2805275" cy="663381"/>
          </a:xfrm>
          <a:prstGeom prst="rect">
            <a:avLst/>
          </a:prstGeom>
        </p:spPr>
      </p:pic>
      <p:pic>
        <p:nvPicPr>
          <p:cNvPr id="6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6DA2F3C-C9E5-C9C7-A043-8C81A75634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318853" y="-524682"/>
            <a:ext cx="3558124" cy="952539"/>
          </a:xfrm>
          <a:prstGeom prst="rect">
            <a:avLst/>
          </a:prstGeom>
        </p:spPr>
      </p:pic>
      <p:pic>
        <p:nvPicPr>
          <p:cNvPr id="9" name="Imagem 8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10BD7E98-214E-3863-9D9E-2D2980A1DC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6318853" y="1555124"/>
            <a:ext cx="4960936" cy="661746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5A810405-5CB1-6930-B2B8-0F5122580C63}"/>
              </a:ext>
            </a:extLst>
          </p:cNvPr>
          <p:cNvSpPr/>
          <p:nvPr/>
        </p:nvSpPr>
        <p:spPr>
          <a:xfrm>
            <a:off x="-2989055" y="7148423"/>
            <a:ext cx="2091377" cy="2109043"/>
          </a:xfrm>
          <a:prstGeom prst="rect">
            <a:avLst/>
          </a:prstGeom>
          <a:solidFill>
            <a:srgbClr val="FCA1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F82DD127-79BC-89D4-0404-FC7A1AB611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206820" y="8852183"/>
            <a:ext cx="3368933" cy="663381"/>
          </a:xfrm>
          <a:prstGeom prst="rect">
            <a:avLst/>
          </a:prstGeom>
        </p:spPr>
      </p:pic>
      <p:pic>
        <p:nvPicPr>
          <p:cNvPr id="27" name="Imagem 26" descr="Texto&#10;&#10;O conteúdo gerado por IA pode estar incorreto.">
            <a:extLst>
              <a:ext uri="{FF2B5EF4-FFF2-40B4-BE49-F238E27FC236}">
                <a16:creationId xmlns:a16="http://schemas.microsoft.com/office/drawing/2014/main" id="{31B49CB8-F253-18EA-8427-A3BA28343E6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6206820" y="9706595"/>
            <a:ext cx="4266454" cy="663381"/>
          </a:xfrm>
          <a:prstGeom prst="rect">
            <a:avLst/>
          </a:prstGeom>
        </p:spPr>
      </p:pic>
      <p:pic>
        <p:nvPicPr>
          <p:cNvPr id="8" name="Imagem 7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4B7640F1-E42F-D2F8-6CBD-C549040FF2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206820" y="7148423"/>
            <a:ext cx="2545125" cy="663381"/>
          </a:xfrm>
          <a:prstGeom prst="rect">
            <a:avLst/>
          </a:prstGeom>
        </p:spPr>
      </p:pic>
      <p:pic>
        <p:nvPicPr>
          <p:cNvPr id="29" name="Imagem 28" descr="Código QR&#10;&#10;O conteúdo gerado por IA pode estar incorreto.">
            <a:extLst>
              <a:ext uri="{FF2B5EF4-FFF2-40B4-BE49-F238E27FC236}">
                <a16:creationId xmlns:a16="http://schemas.microsoft.com/office/drawing/2014/main" id="{FBACFAE8-54EE-2F68-1AE6-96936F5C51C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0873" y="7226570"/>
            <a:ext cx="1976890" cy="197689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C4717DB-837B-DA52-9D63-FE201723F98D}"/>
              </a:ext>
            </a:extLst>
          </p:cNvPr>
          <p:cNvSpPr txBox="1"/>
          <p:nvPr/>
        </p:nvSpPr>
        <p:spPr>
          <a:xfrm>
            <a:off x="593376" y="6461531"/>
            <a:ext cx="4747204" cy="27238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A SIPATMIN 2026 acontece de 10 a 14 de agosto e traz como tema a Disciplina Operacional. Mas você sabe o que é isso? É a capacidade de repetir corretamente o procedimento em cada tarefa. Agir com disciplina nas nossas operações reduz desvios e evita que o risco conhecido se transforme em acidente. Faça a sua parte!</a:t>
            </a:r>
            <a:endParaRPr lang="pt-BR" sz="19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E1F86E-0E32-D65E-2D5F-DFF421BEF526}"/>
              </a:ext>
            </a:extLst>
          </p:cNvPr>
          <p:cNvSpPr txBox="1"/>
          <p:nvPr/>
        </p:nvSpPr>
        <p:spPr>
          <a:xfrm>
            <a:off x="593373" y="3460980"/>
            <a:ext cx="4379483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400" b="1" dirty="0">
                <a:solidFill>
                  <a:srgbClr val="000000"/>
                </a:solidFill>
                <a:latin typeface="Arial"/>
                <a:cs typeface="Arial"/>
              </a:rPr>
              <a:t>Disciplina operacional: a escolha segura em cada turno</a:t>
            </a:r>
          </a:p>
        </p:txBody>
      </p:sp>
      <p:pic>
        <p:nvPicPr>
          <p:cNvPr id="25" name="Imagem 24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EC360D02-8F77-08FB-C3E7-EADB6DD307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206820" y="10576166"/>
            <a:ext cx="2545125" cy="663381"/>
          </a:xfrm>
          <a:prstGeom prst="rect">
            <a:avLst/>
          </a:prstGeom>
        </p:spPr>
      </p:pic>
      <p:pic>
        <p:nvPicPr>
          <p:cNvPr id="2" name="Imagem 1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F714F203-3FD4-B961-15D2-9390504C2A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513578" y="10907856"/>
            <a:ext cx="3368933" cy="663381"/>
          </a:xfrm>
          <a:prstGeom prst="rect">
            <a:avLst/>
          </a:prstGeom>
        </p:spPr>
      </p:pic>
      <p:pic>
        <p:nvPicPr>
          <p:cNvPr id="3" name="Imagem 2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CD7C1408-A3F9-F451-3984-B814CA76BA0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815" y="2662491"/>
            <a:ext cx="3368933" cy="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4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DBD1-B1CA-BC7F-75D5-E7D3CA435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6498B05-E4AF-EF54-3A27-F7577778C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22" y="5936577"/>
            <a:ext cx="5486620" cy="45448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122C55-6E63-2B7D-939B-00CCF3088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89" y="637747"/>
            <a:ext cx="5438053" cy="4504656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68140578-FA32-A3FC-8C0F-021BC5704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256" y="5934952"/>
            <a:ext cx="4266454" cy="663381"/>
          </a:xfrm>
          <a:prstGeom prst="rect">
            <a:avLst/>
          </a:prstGeom>
        </p:spPr>
      </p:pic>
      <p:pic>
        <p:nvPicPr>
          <p:cNvPr id="3" name="Imagem 2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1C589A01-5F48-20FE-2367-42472059E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256" y="637747"/>
            <a:ext cx="3368933" cy="6633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3440595-F3FB-A0B5-9CEA-E9F473F0BE0F}"/>
              </a:ext>
            </a:extLst>
          </p:cNvPr>
          <p:cNvSpPr txBox="1"/>
          <p:nvPr/>
        </p:nvSpPr>
        <p:spPr>
          <a:xfrm>
            <a:off x="6681686" y="3003356"/>
            <a:ext cx="7326144" cy="155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O novo estacionamento da Mina Cuiabá já está em operação e possui 66 vagas. O local conta com serviço de vans (</a:t>
            </a:r>
            <a:r>
              <a:rPr lang="pt-BR" sz="1900" dirty="0" err="1">
                <a:solidFill>
                  <a:srgbClr val="000000"/>
                </a:solidFill>
                <a:latin typeface="Arial"/>
                <a:cs typeface="Arial"/>
              </a:rPr>
              <a:t>transfer</a:t>
            </a:r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) das 6h às 20h15, com saídas a cada 15 minutos. Para evitar acidentes e infrações, estacione nesse espaço e nunca pare seu veículo nas margens da MGC-262.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BFD651-8BD5-9558-D784-13D1460876F6}"/>
              </a:ext>
            </a:extLst>
          </p:cNvPr>
          <p:cNvSpPr txBox="1"/>
          <p:nvPr/>
        </p:nvSpPr>
        <p:spPr>
          <a:xfrm>
            <a:off x="6681685" y="1490523"/>
            <a:ext cx="764932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Veja como usar o estacionamento em Cuiabá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188816B-3E2A-8C5A-8B43-2824A3602FDD}"/>
              </a:ext>
            </a:extLst>
          </p:cNvPr>
          <p:cNvSpPr txBox="1"/>
          <p:nvPr/>
        </p:nvSpPr>
        <p:spPr>
          <a:xfrm>
            <a:off x="6681685" y="8205865"/>
            <a:ext cx="7117442" cy="155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Lamego e Cuiabá receberam as visitas da Câmara Americana de Comércio para o Brasil (AMCHAM), de universitários da Universidade Federal de Ouro Preto (UFOP) e dos colegas de Cerro Vanguardia para troca de experiências, compartilhamento de boas práticas e aproximação com futuros profissionais.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4780AED-5FFC-7677-5513-351FD75AE99F}"/>
              </a:ext>
            </a:extLst>
          </p:cNvPr>
          <p:cNvSpPr txBox="1"/>
          <p:nvPr/>
        </p:nvSpPr>
        <p:spPr>
          <a:xfrm>
            <a:off x="6681685" y="6693032"/>
            <a:ext cx="766577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Visitas movimentam as operações em julho</a:t>
            </a:r>
          </a:p>
        </p:txBody>
      </p:sp>
    </p:spTree>
    <p:extLst>
      <p:ext uri="{BB962C8B-B14F-4D97-AF65-F5344CB8AC3E}">
        <p14:creationId xmlns:p14="http://schemas.microsoft.com/office/powerpoint/2010/main" val="258305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7A15-8430-C5D1-2314-459DC4A7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EBBC9A3-AB1F-B062-0E43-A993EDFCC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22" y="5936577"/>
            <a:ext cx="5486620" cy="45448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B67233-5127-A855-D754-C6EA79B6D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22" y="637747"/>
            <a:ext cx="5438053" cy="4504656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A6354EF-F1EC-7243-F514-69EAF189A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256" y="637747"/>
            <a:ext cx="4266454" cy="6633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73C3276-58A0-D664-B12C-BFF47467604C}"/>
              </a:ext>
            </a:extLst>
          </p:cNvPr>
          <p:cNvSpPr txBox="1"/>
          <p:nvPr/>
        </p:nvSpPr>
        <p:spPr>
          <a:xfrm>
            <a:off x="6681685" y="3003356"/>
            <a:ext cx="7649323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A história da AGA é construída por pessoas como Marcelo de Oliveira, que iniciou sua trajetória como terceirizado e hoje é técnico de Almoxarifado e membro da CIPA (Comissão Interna de Prevenção de Acidentes e de Assédio) em Lamego. Seu exemplo reforça que cuidado e compromisso fazem parte do nosso legado. Quer conhecer mais histórias assim? Acompanhe nossa série especial!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29C4242-9B95-CC6F-0587-9F7E2108A0F9}"/>
              </a:ext>
            </a:extLst>
          </p:cNvPr>
          <p:cNvSpPr txBox="1"/>
          <p:nvPr/>
        </p:nvSpPr>
        <p:spPr>
          <a:xfrm>
            <a:off x="6681685" y="1490523"/>
            <a:ext cx="764932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Marcelo de Oliveira faz parte dos 192 anos da AGA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7A1AE25-8B96-4348-7018-961582EB3A56}"/>
              </a:ext>
            </a:extLst>
          </p:cNvPr>
          <p:cNvSpPr txBox="1"/>
          <p:nvPr/>
        </p:nvSpPr>
        <p:spPr>
          <a:xfrm>
            <a:off x="6681685" y="8205865"/>
            <a:ext cx="7117442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A AGA patrocina o Projeto Transformação Sabará, que oferece aulas de futebol para 180 crianças e adolescentes. Via Lei Federal de Incentivo ao Esporte, a iniciativa fortalece a inclusão, a cidadania e o desenvolvimento social por meio do esporte.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07F88B0-0873-AB5B-040A-6DDB5CF7E157}"/>
              </a:ext>
            </a:extLst>
          </p:cNvPr>
          <p:cNvSpPr txBox="1"/>
          <p:nvPr/>
        </p:nvSpPr>
        <p:spPr>
          <a:xfrm>
            <a:off x="6681685" y="6693032"/>
            <a:ext cx="766577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Investimento em esporte transforma vidas em Sabará</a:t>
            </a:r>
          </a:p>
        </p:txBody>
      </p:sp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6E97BF4B-E73B-E3DD-1050-851425FF5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256" y="5934954"/>
            <a:ext cx="2545125" cy="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0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5FBF-066D-9839-E477-C340FB69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2C035E7-D372-CC54-61FD-C41C6A6AA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22" y="5976807"/>
            <a:ext cx="5438053" cy="450465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3C442CC-B0D1-1096-0311-807FF06B5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22" y="637747"/>
            <a:ext cx="5438053" cy="450465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AC6E662-1555-B6B2-604E-AD04FA2483B6}"/>
              </a:ext>
            </a:extLst>
          </p:cNvPr>
          <p:cNvSpPr txBox="1"/>
          <p:nvPr/>
        </p:nvSpPr>
        <p:spPr>
          <a:xfrm>
            <a:off x="6681685" y="3003356"/>
            <a:ext cx="7649323" cy="155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O Nova Lima Rugby, time patrocinado pelo AGA, conquistou a Taça Rio-Minas e garantiu vaga no Super 12, principal divisão da modalidade no país. O investimento reforça o compromisso da empresa com o esporte, a inclusão e o desenvolvimento das comunidades.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094AD9-F3E0-A6EE-1394-E8658890C506}"/>
              </a:ext>
            </a:extLst>
          </p:cNvPr>
          <p:cNvSpPr txBox="1"/>
          <p:nvPr/>
        </p:nvSpPr>
        <p:spPr>
          <a:xfrm>
            <a:off x="6681685" y="1490523"/>
            <a:ext cx="764932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Time Nova Lima Rugby conquista acesso ao Super 12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DAE5F7E-5605-34ED-CC9B-3B1F1B5E39E2}"/>
              </a:ext>
            </a:extLst>
          </p:cNvPr>
          <p:cNvSpPr txBox="1"/>
          <p:nvPr/>
        </p:nvSpPr>
        <p:spPr>
          <a:xfrm>
            <a:off x="6681685" y="8205865"/>
            <a:ext cx="7117442" cy="155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O Instituto AngloGold Ashanti patrocina o Festival Fartura Nova Lima 2026 que acontecerá nos dias 1 e 2 de agosto. Com entrada gratuita, o evento reunirá restaurantes, produtores, cozinha ao vivo, espaço infantil, atrações musicais e experiências para todas as idades.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5432EE4-63C2-A5F1-6655-C4AAC3732765}"/>
              </a:ext>
            </a:extLst>
          </p:cNvPr>
          <p:cNvSpPr txBox="1"/>
          <p:nvPr/>
        </p:nvSpPr>
        <p:spPr>
          <a:xfrm>
            <a:off x="6681685" y="6693032"/>
            <a:ext cx="590590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Participe do Festival Fartura 2026</a:t>
            </a:r>
          </a:p>
        </p:txBody>
      </p:sp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9F21C8CE-D59F-AF43-981A-A74FDE95A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256" y="5934954"/>
            <a:ext cx="2545125" cy="663381"/>
          </a:xfrm>
          <a:prstGeom prst="rect">
            <a:avLst/>
          </a:prstGeom>
        </p:spPr>
      </p:pic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EC716E06-050F-F23C-1C2D-79773BE6E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256" y="637747"/>
            <a:ext cx="2545125" cy="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7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C765-9794-89B2-F84F-528DCE76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FFE99233-F7C2-F3BD-3344-26837217B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511" y="2309184"/>
            <a:ext cx="7772400" cy="6438331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42362F2-64AC-64E4-E452-3B77BA9FA0BE}"/>
              </a:ext>
            </a:extLst>
          </p:cNvPr>
          <p:cNvSpPr txBox="1"/>
          <p:nvPr/>
        </p:nvSpPr>
        <p:spPr>
          <a:xfrm>
            <a:off x="497172" y="4014101"/>
            <a:ext cx="5615755" cy="155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O Centro de Educação Ambiental oferece contato com a natureza por meio da </a:t>
            </a:r>
            <a:r>
              <a:rPr lang="pt-BR" sz="1900" dirty="0" err="1">
                <a:solidFill>
                  <a:srgbClr val="000000"/>
                </a:solidFill>
                <a:latin typeface="Arial"/>
                <a:cs typeface="Arial"/>
              </a:rPr>
              <a:t>Ecotrilha</a:t>
            </a:r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 do </a:t>
            </a:r>
            <a:r>
              <a:rPr lang="pt-BR" sz="1900" dirty="0" err="1">
                <a:solidFill>
                  <a:srgbClr val="000000"/>
                </a:solidFill>
                <a:latin typeface="Arial"/>
                <a:cs typeface="Arial"/>
              </a:rPr>
              <a:t>Naturelê</a:t>
            </a:r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. Já o Centro de Memória recebe a exposição sobre ancestralidade e cultura afro-brasileira. Confira os horários e programe sua visita!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054C7A8-69D2-E10D-939D-7B60B091BF93}"/>
              </a:ext>
            </a:extLst>
          </p:cNvPr>
          <p:cNvSpPr txBox="1"/>
          <p:nvPr/>
        </p:nvSpPr>
        <p:spPr>
          <a:xfrm>
            <a:off x="497173" y="2501268"/>
            <a:ext cx="610213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Visite o CEA e o Centro de Memória nas férias</a:t>
            </a:r>
          </a:p>
        </p:txBody>
      </p:sp>
      <p:pic>
        <p:nvPicPr>
          <p:cNvPr id="4" name="Imagem 3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BCCD80EC-0C28-AACC-F76C-AB9DCDEE2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06820" y="8852183"/>
            <a:ext cx="3368933" cy="663381"/>
          </a:xfrm>
          <a:prstGeom prst="rect">
            <a:avLst/>
          </a:prstGeom>
        </p:spPr>
      </p:pic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A6130280-58BF-E130-2FB0-3B47B30C62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3528" y="9078688"/>
            <a:ext cx="1674383" cy="111588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117EEE4-1148-356D-E8D9-C23C340A3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4" y="1664037"/>
            <a:ext cx="4266454" cy="6633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0548101-3ED1-B4A0-7974-282DDD7B395C}"/>
              </a:ext>
            </a:extLst>
          </p:cNvPr>
          <p:cNvSpPr txBox="1"/>
          <p:nvPr/>
        </p:nvSpPr>
        <p:spPr>
          <a:xfrm>
            <a:off x="497172" y="5890872"/>
            <a:ext cx="5479567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pt-BR" b="1" dirty="0">
                <a:solidFill>
                  <a:srgbClr val="FEA4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CEA:</a:t>
            </a:r>
            <a:r>
              <a:rPr lang="pt-BR" dirty="0">
                <a:solidFill>
                  <a:srgbClr val="FEA4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quarta a sexta-feira, das 8h30 às 11h30 e das 13h às 16h30; sábados e domingos, das 8h30 às 16h30. Entrada permitida somente com sapato fechado. Informações: (31) 97199-8901 ou (31) 99922-1682. 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FE3953-9CA9-9AD8-67C5-A5D15365B6AF}"/>
              </a:ext>
            </a:extLst>
          </p:cNvPr>
          <p:cNvSpPr txBox="1"/>
          <p:nvPr/>
        </p:nvSpPr>
        <p:spPr>
          <a:xfrm>
            <a:off x="497172" y="7651854"/>
            <a:ext cx="593220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pt-BR" b="1" dirty="0">
                <a:solidFill>
                  <a:srgbClr val="FEA4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de Memória: 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quarta a sexta-feira, das 8h às 12h e das 13h20 às 16h30; sábados e domingos, das 9h às 12h e das 13h20 às 16h30. Agendamento pelo telefone (31) 3589-1716 ou WhatsApp (31) 97200-7978. 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3FC8EC5-9996-75D5-3662-A96257D43B94}"/>
              </a:ext>
            </a:extLst>
          </p:cNvPr>
          <p:cNvCxnSpPr/>
          <p:nvPr/>
        </p:nvCxnSpPr>
        <p:spPr>
          <a:xfrm>
            <a:off x="626744" y="5742223"/>
            <a:ext cx="5486183" cy="0"/>
          </a:xfrm>
          <a:prstGeom prst="line">
            <a:avLst/>
          </a:prstGeom>
          <a:ln w="12700">
            <a:solidFill>
              <a:srgbClr val="FEA4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32DE7C5-4AA5-37D0-4ABF-635A42CA88C5}"/>
              </a:ext>
            </a:extLst>
          </p:cNvPr>
          <p:cNvCxnSpPr/>
          <p:nvPr/>
        </p:nvCxnSpPr>
        <p:spPr>
          <a:xfrm>
            <a:off x="626744" y="7516848"/>
            <a:ext cx="5486183" cy="0"/>
          </a:xfrm>
          <a:prstGeom prst="line">
            <a:avLst/>
          </a:prstGeom>
          <a:ln w="12700">
            <a:solidFill>
              <a:srgbClr val="FEA4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67A69D1-EBD5-BE27-57D3-14EA47B0E70A}"/>
              </a:ext>
            </a:extLst>
          </p:cNvPr>
          <p:cNvCxnSpPr/>
          <p:nvPr/>
        </p:nvCxnSpPr>
        <p:spPr>
          <a:xfrm>
            <a:off x="626744" y="9155676"/>
            <a:ext cx="5486183" cy="0"/>
          </a:xfrm>
          <a:prstGeom prst="line">
            <a:avLst/>
          </a:prstGeom>
          <a:ln w="12700">
            <a:solidFill>
              <a:srgbClr val="FEA4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19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3E4A-3EA6-4362-C786-2C59F485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de homem e texto&#10;&#10;O conteúdo gerado por IA pode estar incorreto.">
            <a:extLst>
              <a:ext uri="{FF2B5EF4-FFF2-40B4-BE49-F238E27FC236}">
                <a16:creationId xmlns:a16="http://schemas.microsoft.com/office/drawing/2014/main" id="{F11BF510-1420-9DE8-DBD0-5927542C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06820" y="8852183"/>
            <a:ext cx="3368933" cy="663381"/>
          </a:xfrm>
          <a:prstGeom prst="rect">
            <a:avLst/>
          </a:prstGeom>
        </p:spPr>
      </p:pic>
      <p:pic>
        <p:nvPicPr>
          <p:cNvPr id="7" name="Picture 24" descr="image.jpg">
            <a:extLst>
              <a:ext uri="{FF2B5EF4-FFF2-40B4-BE49-F238E27FC236}">
                <a16:creationId xmlns:a16="http://schemas.microsoft.com/office/drawing/2014/main" id="{9BACAFD9-B57E-0F5A-89BA-985F67A59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511" y="2309184"/>
            <a:ext cx="7772400" cy="643833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BE97D3D-A660-656B-CF0C-0246C0894197}"/>
              </a:ext>
            </a:extLst>
          </p:cNvPr>
          <p:cNvSpPr txBox="1"/>
          <p:nvPr/>
        </p:nvSpPr>
        <p:spPr>
          <a:xfrm>
            <a:off x="497172" y="5237565"/>
            <a:ext cx="4839599" cy="21390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900" dirty="0">
                <a:solidFill>
                  <a:srgbClr val="000000"/>
                </a:solidFill>
                <a:latin typeface="Arial"/>
                <a:cs typeface="Arial"/>
              </a:rPr>
              <a:t>Em 2026, a AGA participa do IPTU Social, da Prefeitura de Nova Lima, que converte parte do imposto em benefícios sociais. Esse ano, a empresa destinará R$ 400 mil ao Fundo de Habitação e você também pode direcionar até 10% do seu IPTU. Para participar, acesse o QRcode.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0E29358-2BAC-BE34-74FD-4F152CB1AEE1}"/>
              </a:ext>
            </a:extLst>
          </p:cNvPr>
          <p:cNvSpPr txBox="1"/>
          <p:nvPr/>
        </p:nvSpPr>
        <p:spPr>
          <a:xfrm>
            <a:off x="497173" y="3152565"/>
            <a:ext cx="610213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Arial"/>
                <a:cs typeface="Arial"/>
              </a:rPr>
              <a:t>IPTU Social 2026: chegou a hora de participar!</a:t>
            </a:r>
          </a:p>
        </p:txBody>
      </p:sp>
      <p:pic>
        <p:nvPicPr>
          <p:cNvPr id="14" name="Picture 23" descr="nossa_empresa.png">
            <a:extLst>
              <a:ext uri="{FF2B5EF4-FFF2-40B4-BE49-F238E27FC236}">
                <a16:creationId xmlns:a16="http://schemas.microsoft.com/office/drawing/2014/main" id="{0DAFC245-FE07-582C-04BD-6D19523CA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4" y="2309184"/>
            <a:ext cx="4248402" cy="66338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821B7C3-3B7F-B57B-BAE6-0D8326980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675" y="6636661"/>
            <a:ext cx="1862642" cy="186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0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A364B-FE70-F885-E35F-BBA27A7B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89" y="0"/>
            <a:ext cx="15115571" cy="10691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C57370-1A1E-78B1-C886-C6DCCD582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6"/>
          <a:stretch>
            <a:fillRect/>
          </a:stretch>
        </p:blipFill>
        <p:spPr>
          <a:xfrm>
            <a:off x="20" y="1998"/>
            <a:ext cx="15119329" cy="106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7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96E22-3315-61FC-FE78-04DED6DF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89" y="0"/>
            <a:ext cx="15115571" cy="10691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5F35B68-0767-974C-DE4A-F39843C0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" r="-1" b="-1"/>
          <a:stretch>
            <a:fillRect/>
          </a:stretch>
        </p:blipFill>
        <p:spPr>
          <a:xfrm>
            <a:off x="20" y="1998"/>
            <a:ext cx="15119329" cy="106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0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DD2A7-147E-581A-3D9D-47F93950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89" y="0"/>
            <a:ext cx="15115571" cy="10691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B701D9-E663-9970-8F03-7F4EA0901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6"/>
          <a:stretch>
            <a:fillRect/>
          </a:stretch>
        </p:blipFill>
        <p:spPr>
          <a:xfrm>
            <a:off x="20" y="1998"/>
            <a:ext cx="15119329" cy="106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8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64506-94F2-2EF3-78A5-6BF794D8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89" y="0"/>
            <a:ext cx="15115571" cy="10691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311CB2-CC5E-8FC6-C3D2-AEF5354E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" r="-1" b="-1"/>
          <a:stretch>
            <a:fillRect/>
          </a:stretch>
        </p:blipFill>
        <p:spPr>
          <a:xfrm>
            <a:off x="20" y="1998"/>
            <a:ext cx="15119329" cy="106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2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1EF9-CB58-8524-F3E3-A36CA127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2E78EBAC-898F-E2B6-F327-9D17A57277C2}"/>
              </a:ext>
            </a:extLst>
          </p:cNvPr>
          <p:cNvSpPr txBox="1"/>
          <p:nvPr/>
        </p:nvSpPr>
        <p:spPr>
          <a:xfrm>
            <a:off x="598169" y="9956800"/>
            <a:ext cx="534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MG</a:t>
            </a:r>
            <a:endParaRPr lang="pt-BR" sz="1600" dirty="0">
              <a:solidFill>
                <a:srgbClr val="00B0F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FBFA19-604A-2CE7-0882-591EF39C9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91" y="820270"/>
            <a:ext cx="4227629" cy="2977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3B5B53A-4BB8-967D-2227-25D309D9EC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658" y="797892"/>
            <a:ext cx="4227629" cy="29994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FCD1590-18B8-D05E-8F48-18F6635B6B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025" y="822287"/>
            <a:ext cx="4227629" cy="2973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859A0D7-2188-8DDB-48B3-E69F88AC4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825" y="3918568"/>
            <a:ext cx="4227629" cy="2993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2E65B40-A810-6B48-C818-E7D8C6B59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82" y="3935838"/>
            <a:ext cx="4227629" cy="2970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FAE579C-E48D-B5B1-C41B-19FFD7A60E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1" y="7100963"/>
            <a:ext cx="3127518" cy="22106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A477D87-6DC8-BC48-136A-18E0EEFFA1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" r="-1" b="-1"/>
          <a:stretch>
            <a:fillRect/>
          </a:stretch>
        </p:blipFill>
        <p:spPr>
          <a:xfrm>
            <a:off x="4432252" y="7100464"/>
            <a:ext cx="3126637" cy="22106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DA04D06-75DE-CB13-0D75-CD2D4E152F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6"/>
          <a:stretch>
            <a:fillRect/>
          </a:stretch>
        </p:blipFill>
        <p:spPr>
          <a:xfrm>
            <a:off x="7722842" y="7098464"/>
            <a:ext cx="3126637" cy="22106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BBB7633-B06F-2EFF-240D-770D179F78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" r="-1" b="-1"/>
          <a:stretch>
            <a:fillRect/>
          </a:stretch>
        </p:blipFill>
        <p:spPr>
          <a:xfrm>
            <a:off x="11013432" y="7098465"/>
            <a:ext cx="3126637" cy="22106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8971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194B1FB364F543BFD7BAA6D94F2707" ma:contentTypeVersion="20" ma:contentTypeDescription="Crie um novo documento." ma:contentTypeScope="" ma:versionID="cda5c1908639bdb59b450378492f04f4">
  <xsd:schema xmlns:xsd="http://www.w3.org/2001/XMLSchema" xmlns:xs="http://www.w3.org/2001/XMLSchema" xmlns:p="http://schemas.microsoft.com/office/2006/metadata/properties" xmlns:ns2="c05bfb15-59f7-4a1e-a909-ebcd6b56f02e" xmlns:ns3="f9e9b5a3-da2a-410a-a2ad-27f5f4b99ea2" targetNamespace="http://schemas.microsoft.com/office/2006/metadata/properties" ma:root="true" ma:fieldsID="c61eff3e49bf3731911b66737c69c060" ns2:_="" ns3:_="">
    <xsd:import namespace="c05bfb15-59f7-4a1e-a909-ebcd6b56f02e"/>
    <xsd:import namespace="f9e9b5a3-da2a-410a-a2ad-27f5f4b99e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bfb15-59f7-4a1e-a909-ebcd6b56f0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be902df-3d63-4988-a405-8dabba07b3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9b5a3-da2a-410a-a2ad-27f5f4b99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c478b27-f034-41b1-b26f-17a3926066f8}" ma:internalName="TaxCatchAll" ma:showField="CatchAllData" ma:web="f9e9b5a3-da2a-410a-a2ad-27f5f4b99e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5bfb15-59f7-4a1e-a909-ebcd6b56f02e">
      <Terms xmlns="http://schemas.microsoft.com/office/infopath/2007/PartnerControls"/>
    </lcf76f155ced4ddcb4097134ff3c332f>
    <TaxCatchAll xmlns="f9e9b5a3-da2a-410a-a2ad-27f5f4b99ea2" xsi:nil="true"/>
    <_Flow_SignoffStatus xmlns="c05bfb15-59f7-4a1e-a909-ebcd6b56f02e" xsi:nil="true"/>
  </documentManagement>
</p:properties>
</file>

<file path=customXml/itemProps1.xml><?xml version="1.0" encoding="utf-8"?>
<ds:datastoreItem xmlns:ds="http://schemas.openxmlformats.org/officeDocument/2006/customXml" ds:itemID="{03E6341C-D68B-4199-B1E3-BD1D7E4DAB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EA6281-27FC-44B6-B8A8-AD5E2CFE429F}">
  <ds:schemaRefs>
    <ds:schemaRef ds:uri="c05bfb15-59f7-4a1e-a909-ebcd6b56f02e"/>
    <ds:schemaRef ds:uri="f9e9b5a3-da2a-410a-a2ad-27f5f4b99ea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CC63C27-E39C-4047-9314-E479B4BB4828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c05bfb15-59f7-4a1e-a909-ebcd6b56f02e"/>
    <ds:schemaRef ds:uri="http://schemas.openxmlformats.org/package/2006/metadata/core-properties"/>
    <ds:schemaRef ds:uri="f9e9b5a3-da2a-410a-a2ad-27f5f4b99ea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2317</TotalTime>
  <Words>645</Words>
  <Application>Microsoft Macintosh PowerPoint</Application>
  <PresentationFormat>Personalizar</PresentationFormat>
  <Paragraphs>32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Correa, Ana Clara Fernandes</dc:creator>
  <cp:lastModifiedBy>David Albino - Approach</cp:lastModifiedBy>
  <cp:revision>97</cp:revision>
  <dcterms:created xsi:type="dcterms:W3CDTF">2023-09-05T15:51:43Z</dcterms:created>
  <dcterms:modified xsi:type="dcterms:W3CDTF">2026-07-28T14:14:48Z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0x01010055194B1FB364F543BFD7BAA6D94F2707</vt:lpwstr>
  </property>
  <property fmtid="{D5CDD505-2E9C-101B-9397-08002B2CF9AE}" pid="3" name="MediaServiceImageTags">
    <vt:lpwstr/>
  </property>
</Properties>
</file>